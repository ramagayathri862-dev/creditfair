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6" r:id="rId17"/>
    <p:sldId id="267" r:id="rId18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Borrowers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5C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Default</c:v>
                  </c:pt>
                  <c:pt idx="1">
                    <c:v>Default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41000</c:v>
                </c:pt>
                <c:pt idx="1">
                  <c:v>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Credit
Utilisation</c:v>
                  </c:pt>
                  <c:pt idx="1">
                    <c:v>Debt-to-
Income</c:v>
                  </c:pt>
                  <c:pt idx="2">
                    <c:v>Prior
Delinquencies</c:v>
                  </c:pt>
                  <c:pt idx="3">
                    <c:v>Loan
Amount</c:v>
                  </c:pt>
                  <c:pt idx="4">
                    <c:v>Credit
History</c:v>
                  </c:pt>
                  <c:pt idx="5">
                    <c:v>Income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0.62</c:v>
                </c:pt>
                <c:pt idx="1">
                  <c:v>0.54</c:v>
                </c:pt>
                <c:pt idx="2">
                  <c:v>0.49</c:v>
                </c:pt>
                <c:pt idx="3">
                  <c:v>0.31</c:v>
                </c:pt>
                <c:pt idx="4">
                  <c:v>-0.38</c:v>
                </c:pt>
                <c:pt idx="5">
                  <c:v>-0.44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22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2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Loss</c:v>
                </c:pt>
              </c:strCache>
            </c:strRef>
          </c:tx>
          <c:spPr>
            <a:solidFill>
              <a:srgbClr val="CADCFC"/>
            </a:solidFill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  <c:pt idx="5">
                    <c:v>B6</c:v>
                  </c:pt>
                  <c:pt idx="6">
                    <c:v>B7</c:v>
                  </c:pt>
                  <c:pt idx="7">
                    <c:v>B8</c:v>
                  </c:pt>
                  <c:pt idx="8">
                    <c:v>B9</c:v>
                  </c:pt>
                  <c:pt idx="9">
                    <c:v>B10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5000</c:v>
                </c:pt>
                <c:pt idx="1">
                  <c:v>12000</c:v>
                </c:pt>
                <c:pt idx="2">
                  <c:v>18000</c:v>
                </c:pt>
                <c:pt idx="3">
                  <c:v>25000</c:v>
                </c:pt>
                <c:pt idx="4">
                  <c:v>31000</c:v>
                </c:pt>
                <c:pt idx="5">
                  <c:v>38000</c:v>
                </c:pt>
                <c:pt idx="6">
                  <c:v>42500</c:v>
                </c:pt>
                <c:pt idx="7">
                  <c:v>48000</c:v>
                </c:pt>
                <c:pt idx="8">
                  <c:v>55000</c:v>
                </c:pt>
                <c:pt idx="9">
                  <c:v>61000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Loss</c:v>
                </c:pt>
              </c:strCache>
            </c:strRef>
          </c:tx>
          <c:spPr>
            <a:solidFill>
              <a:srgbClr val="3E5C9A"/>
            </a:solidFill>
            <a:ln w="25400" cap="flat">
              <a:solidFill>
                <a:srgbClr val="3E5C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5C9A"/>
              </a:solidFill>
              <a:ln w="9525" cap="flat">
                <a:solidFill>
                  <a:srgbClr val="3E5C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B1</c:v>
                  </c:pt>
                  <c:pt idx="1">
                    <c:v>B2</c:v>
                  </c:pt>
                  <c:pt idx="2">
                    <c:v>B3</c:v>
                  </c:pt>
                  <c:pt idx="3">
                    <c:v>B4</c:v>
                  </c:pt>
                  <c:pt idx="4">
                    <c:v>B5</c:v>
                  </c:pt>
                  <c:pt idx="5">
                    <c:v>B6</c:v>
                  </c:pt>
                  <c:pt idx="6">
                    <c:v>B7</c:v>
                  </c:pt>
                  <c:pt idx="7">
                    <c:v>B8</c:v>
                  </c:pt>
                  <c:pt idx="8">
                    <c:v>B9</c:v>
                  </c:pt>
                  <c:pt idx="9">
                    <c:v>B10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5400</c:v>
                </c:pt>
                <c:pt idx="1">
                  <c:v>11200</c:v>
                </c:pt>
                <c:pt idx="2">
                  <c:v>19500</c:v>
                </c:pt>
                <c:pt idx="3">
                  <c:v>23800</c:v>
                </c:pt>
                <c:pt idx="4">
                  <c:v>32600</c:v>
                </c:pt>
                <c:pt idx="5">
                  <c:v>36900</c:v>
                </c:pt>
                <c:pt idx="6">
                  <c:v>44100</c:v>
                </c:pt>
                <c:pt idx="7">
                  <c:v>46200</c:v>
                </c:pt>
                <c:pt idx="8">
                  <c:v>57000</c:v>
                </c:pt>
                <c:pt idx="9">
                  <c:v>59500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39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</c:v>
                  </c:pt>
                  <c:pt idx="1">
                    <c:v>Ridge</c:v>
                  </c:pt>
                  <c:pt idx="2">
                    <c:v>Lasso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6200</c:v>
                </c:pt>
                <c:pt idx="1">
                  <c:v>5850</c:v>
                </c:pt>
                <c:pt idx="2">
                  <c:v>5960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C8556"/>
            </a:solidFill>
            <a:ln w="31750" cap="flat">
              <a:solidFill>
                <a:srgbClr val="2C855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8556"/>
              </a:solidFill>
              <a:ln w="9525" cap="flat">
                <a:solidFill>
                  <a:srgbClr val="2C85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</c:v>
                </c:pt>
                <c:pt idx="1">
                  <c:v>0.83</c:v>
                </c:pt>
                <c:pt idx="2">
                  <c:v>0.8</c:v>
                </c:pt>
                <c:pt idx="3">
                  <c:v>0.84</c:v>
                </c:pt>
                <c:pt idx="4">
                  <c:v>0.82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22A4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0.74</c:v>
                </c:pt>
                <c:pt idx="1">
                  <c:v>0.79</c:v>
                </c:pt>
                <c:pt idx="2">
                  <c:v>0.83</c:v>
                </c:pt>
                <c:pt idx="3">
                  <c:v>0.87</c:v>
                </c:pt>
                <c:pt idx="4">
                  <c:v>0.9</c:v>
                </c:pt>
                <c:pt idx="5">
                  <c:v>0.94</c:v>
                </c:pt>
                <c:pt idx="6">
                  <c:v>0.97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C8556"/>
            </a:solidFill>
            <a:ln w="31750" cap="flat">
              <a:solidFill>
                <a:srgbClr val="2C85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C8556"/>
              </a:solidFill>
              <a:ln w="9525" cap="flat">
                <a:solidFill>
                  <a:srgbClr val="2C85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0.73</c:v>
                </c:pt>
                <c:pt idx="1">
                  <c:v>0.78</c:v>
                </c:pt>
                <c:pt idx="2">
                  <c:v>0.82</c:v>
                </c:pt>
                <c:pt idx="3">
                  <c:v>0.82</c:v>
                </c:pt>
                <c:pt idx="4">
                  <c:v>0.8</c:v>
                </c:pt>
                <c:pt idx="5">
                  <c:v>0.77</c:v>
                </c:pt>
                <c:pt idx="6">
                  <c:v>0.75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5"/>
        </c:scaling>
        <c:delete val="0"/>
        <c:axPos val="l"/>
        <c:majorGridlines>
          <c:spPr>
            <a:ln w="12700" cap="flat">
              <a:solidFill>
                <a:srgbClr val="E1E5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39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Permutation Importance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Utilisation</c:v>
                  </c:pt>
                  <c:pt idx="1">
                    <c:v>History</c:v>
                  </c:pt>
                  <c:pt idx="2">
                    <c:v>Income</c:v>
                  </c:pt>
                  <c:pt idx="3">
                    <c:v>Bureau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0.184</c:v>
                </c:pt>
                <c:pt idx="1">
                  <c:v>0.121</c:v>
                </c:pt>
                <c:pt idx="2">
                  <c:v>0.098</c:v>
                </c:pt>
                <c:pt idx="3">
                  <c:v>0.076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2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2"/>
        </c:scaling>
        <c:delete val="0"/>
        <c:axPos val="l"/>
        <c:majorGridlines>
          <c:spPr>
            <a:ln w="12700" cap="flat">
              <a:solidFill>
                <a:srgbClr val="E1E5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3E5C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Utilisation</c:v>
                  </c:pt>
                  <c:pt idx="1">
                    <c:v>Income</c:v>
                  </c:pt>
                  <c:pt idx="2">
                    <c:v>History</c:v>
                  </c:pt>
                  <c:pt idx="3">
                    <c:v>Bureau</c:v>
                  </c:pt>
                  <c:pt idx="4">
                    <c:v>DTI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0.35</c:v>
                </c:pt>
                <c:pt idx="2">
                  <c:v>0.27</c:v>
                </c:pt>
                <c:pt idx="3">
                  <c:v>0.21</c:v>
                </c:pt>
                <c:pt idx="4">
                  <c:v>0.18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22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b"/>
        <c:majorGridlines>
          <c:spPr>
            <a:ln w="12700" cap="flat">
              <a:solidFill>
                <a:srgbClr val="E1E5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3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291840" cy="3291840"/>
          </a:xfrm>
          <a:prstGeom prst="ellipse">
            <a:avLst/>
          </a:prstGeom>
          <a:solidFill>
            <a:srgbClr val="26327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CAPSTONE PROJECT · MID-TERM PROGRESS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CreditFair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Fair, Explainable &amp; Risk-Aware Credit Prediction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926080" cy="0"/>
          </a:xfrm>
          <a:prstGeom prst="line">
            <a:avLst/>
          </a:prstGeom>
          <a:noFill/>
          <a:ln w="25400">
            <a:solidFill>
              <a:srgbClr val="3E5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 covering Weeks 1–5: problem definition, data preparation, baseline regression, extended models, and feature engineering.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376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Gayathri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788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5376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Chakrika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5788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5376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5788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2510030376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53766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Srivalli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98280" y="5788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 &amp; 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credit scoring can be inaccurate or unfair. CreditFair uses machine learning to predict credit risk while actively checking that decisions are fair and explainable.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986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72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Default Prediction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Default / No Default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score: 0 – 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Logistic Regression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926080"/>
            <a:ext cx="457200" cy="457200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28986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3172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Given Default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Estimated financial loss (₹)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OLS / Ridge / Lasso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risk-aware limit decisions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 CRITERIA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166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Accuracy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73552" y="5166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3410712" y="5166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Across Groups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98464" y="5166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135624" y="5166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23376" y="5166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8860536" y="5166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Credit Decisions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Problem Definition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FOUNDATION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CreditFair/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(raw, processed)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data/   ├── models/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fairness/  ├── explainability/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15400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5877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15400" y="25877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0723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15400" y="307238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5570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15400" y="355701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40416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15400" y="40416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4526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15400" y="45262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fairlearn / custom metrics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50109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15400" y="5010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54955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15400" y="549554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Structure &amp; Stack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Cleaning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load the loan application and repayment dataset, then check completeness and quality before any modelling begins.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84248" y="17830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1984248" y="18745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84248" y="23500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19856" y="17830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18745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9856" y="23500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55464" y="178308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4855464" y="187452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55464" y="23500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APPLIED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20" name="Text 18"/>
          <p:cNvSpPr/>
          <p:nvPr/>
        </p:nvSpPr>
        <p:spPr>
          <a:xfrm>
            <a:off x="941832" y="32186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 or dropped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85032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85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23" name="Text 21"/>
          <p:cNvSpPr/>
          <p:nvPr/>
        </p:nvSpPr>
        <p:spPr>
          <a:xfrm>
            <a:off x="941832" y="3657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removed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26" name="Text 24"/>
          <p:cNvSpPr/>
          <p:nvPr/>
        </p:nvSpPr>
        <p:spPr>
          <a:xfrm>
            <a:off x="941832" y="40965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treated (IQR capping)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62856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29" name="Text 27"/>
          <p:cNvSpPr/>
          <p:nvPr/>
        </p:nvSpPr>
        <p:spPr>
          <a:xfrm>
            <a:off x="941832" y="453542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encoded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001768"/>
            <a:ext cx="292608" cy="292608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001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/>
          </a:p>
        </p:txBody>
      </p:sp>
      <p:sp>
        <p:nvSpPr>
          <p:cNvPr id="32" name="Text 30"/>
          <p:cNvSpPr/>
          <p:nvPr/>
        </p:nvSpPr>
        <p:spPr>
          <a:xfrm>
            <a:off x="941832" y="49743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scaled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178308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4F6FC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 DISTRIBUTION</a:t>
            </a:r>
            <a:endParaRPr lang="en-US" sz="11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6492240" y="22402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6537960" y="5806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Data Collection &amp; Cleaning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DATA PREPARATION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&amp;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COVERAGE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distribution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792224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8" name="Text 6"/>
          <p:cNvSpPr/>
          <p:nvPr/>
        </p:nvSpPr>
        <p:spPr>
          <a:xfrm>
            <a:off x="3529584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1579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distribution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212848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21579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578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633472"/>
            <a:ext cx="118872" cy="118872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9584" y="2578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group distribution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LOOK FOR (GUIDING QUESTIONS)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 credit utilisation correlate with default?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050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050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class-imbalance issues in the target?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4897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489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show strongest correlation with loss?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1508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DEFAULT RISK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00800" y="1828800"/>
          <a:ext cx="5120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6537960" y="5806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EDA &amp; Insights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BASELINE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 Linear Regression — Expected Loss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baseline predicts Expected Loss Given Default using Ordinary Least Squares.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Delinquencies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2194560"/>
            <a:ext cx="502920" cy="36576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7830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496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sklearn.LinearRegression()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43800" y="2194560"/>
            <a:ext cx="502920" cy="36576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178308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7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C8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0" y="22219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Loss = ₹42,500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PERFORMANCE (FILL FROM YOUR NOTEBOOK)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1460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1460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8056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MAE/RMSE means the model's loss estimates are closer to actual losses. This baseline is the reference point that Ridge, Lasso and later tuned models must beat.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310896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32278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LOSS</a:t>
            </a:r>
            <a:endParaRPr lang="en-US" sz="10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6629400" y="3611880"/>
          <a:ext cx="4892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6720840" y="6053328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OLS Regression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MODEL EXPANSION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Ridge, Lasso &amp; Logistic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families now run side by side — one estimates loss, the other predicts default probability.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3774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830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0" y="1783080"/>
            <a:ext cx="23774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7830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03520" y="1783080"/>
            <a:ext cx="310896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17830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402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22402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2402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prediction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2240280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22402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from Week 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237744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974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2697480"/>
            <a:ext cx="237744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26974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prediction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2697480"/>
            <a:ext cx="3108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26974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 — controls overfitting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1546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31546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31546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prediction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0" y="3154680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31546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 — sparse feature selection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237744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6118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0" y="3611880"/>
            <a:ext cx="237744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35808" y="361188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prediction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03520" y="3611880"/>
            <a:ext cx="3108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E1E5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361188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default probability 0–1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1605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FBF0DE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23367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LOGISTIC OUTPUT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5262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001   →   Default Probability =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 →  High Risk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5257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(FILL FROM NOTEBOOK)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
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51460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
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8056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
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46520" y="5577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
</a:t>
            </a:r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95360" y="1783080"/>
            <a:ext cx="3017520" cy="43891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</p:spPr>
      </p:sp>
      <p:sp>
        <p:nvSpPr>
          <p:cNvPr id="44" name="Text 42"/>
          <p:cNvSpPr/>
          <p:nvPr/>
        </p:nvSpPr>
        <p:spPr>
          <a:xfrm>
            <a:off x="873252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COMPARISON</a:t>
            </a:r>
            <a:endParaRPr lang="en-US" sz="10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8686800" y="2194560"/>
          <a:ext cx="2834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6" name="Text 43"/>
          <p:cNvSpPr/>
          <p:nvPr/>
        </p:nvSpPr>
        <p:spPr>
          <a:xfrm>
            <a:off x="8732520" y="57424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Ridge / Lasso / Logistic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OPTIMISATION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Model Tuning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8" name="Text 6"/>
          <p:cNvSpPr/>
          <p:nvPr/>
        </p:nvSpPr>
        <p:spPr>
          <a:xfrm>
            <a:off x="1280160" y="1947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496312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1" name="Text 9"/>
          <p:cNvSpPr/>
          <p:nvPr/>
        </p:nvSpPr>
        <p:spPr>
          <a:xfrm>
            <a:off x="1280160" y="24780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 Ratio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026664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26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4" name="Text 12"/>
          <p:cNvSpPr/>
          <p:nvPr/>
        </p:nvSpPr>
        <p:spPr>
          <a:xfrm>
            <a:off x="1280160" y="30083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Ratio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57016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7" name="Text 15"/>
          <p:cNvSpPr/>
          <p:nvPr/>
        </p:nvSpPr>
        <p:spPr>
          <a:xfrm>
            <a:off x="1280160" y="35387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Default Count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087368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87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20" name="Text 18"/>
          <p:cNvSpPr/>
          <p:nvPr/>
        </p:nvSpPr>
        <p:spPr>
          <a:xfrm>
            <a:off x="1280160" y="4069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Behaviour 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23" name="Text 21"/>
          <p:cNvSpPr/>
          <p:nvPr/>
        </p:nvSpPr>
        <p:spPr>
          <a:xfrm>
            <a:off x="1280160" y="4599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Length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074920"/>
            <a:ext cx="4572000" cy="0"/>
          </a:xfrm>
          <a:prstGeom prst="line">
            <a:avLst/>
          </a:prstGeom>
          <a:noFill/>
          <a:ln w="12700">
            <a:solidFill>
              <a:srgbClr val="D9D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12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df["debt_to_income"] = df["monthly_debt"]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df["monthly_income"]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1463040"/>
            <a:ext cx="5760720" cy="2148840"/>
          </a:xfrm>
          <a:prstGeom prst="roundRect">
            <a:avLst>
              <a:gd name="adj" fmla="val 3404"/>
            </a:avLst>
          </a:prstGeom>
          <a:solidFill>
            <a:srgbClr val="141B49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6276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193852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 a single train-test split, k-fold cross-validation compares models and hyperparameters and confirms consistent performance.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2834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3749040"/>
            <a:ext cx="576072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8587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ACCURACY BY FOLD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5989320" y="4160520"/>
          <a:ext cx="54864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6080760" y="59253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spc="5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Feature Engineering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1–8 Summary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05840" cy="530352"/>
          </a:xfrm>
          <a:prstGeom prst="rect">
            <a:avLst/>
          </a:prstGeom>
          <a:solidFill>
            <a:srgbClr val="222C60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1508760"/>
            <a:ext cx="4206240" cy="530352"/>
          </a:xfrm>
          <a:prstGeom prst="rect">
            <a:avLst/>
          </a:prstGeom>
          <a:solidFill>
            <a:srgbClr val="222C60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5087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508760"/>
            <a:ext cx="5486400" cy="530352"/>
          </a:xfrm>
          <a:prstGeom prst="rect">
            <a:avLst/>
          </a:prstGeom>
          <a:solidFill>
            <a:srgbClr val="222C60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50876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1200" dirty="0"/>
          </a:p>
        </p:txBody>
      </p:sp>
      <p:sp>
        <p:nvSpPr>
          <p:cNvPr id="100" name="Shape 9"/>
          <p:cNvSpPr/>
          <p:nvPr/>
        </p:nvSpPr>
        <p:spPr>
          <a:xfrm>
            <a:off x="548640" y="203911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01" name="Text 10"/>
          <p:cNvSpPr/>
          <p:nvPr/>
        </p:nvSpPr>
        <p:spPr>
          <a:xfrm>
            <a:off x="685800" y="203911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2" name="Shape 11"/>
          <p:cNvSpPr/>
          <p:nvPr/>
        </p:nvSpPr>
        <p:spPr>
          <a:xfrm>
            <a:off x="1554480" y="203911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03" name="Text 12"/>
          <p:cNvSpPr/>
          <p:nvPr/>
        </p:nvSpPr>
        <p:spPr>
          <a:xfrm>
            <a:off x="1691640" y="203911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setup</a:t>
            </a:r>
            <a:endParaRPr lang="en-US" sz="1200" dirty="0"/>
          </a:p>
        </p:txBody>
      </p:sp>
      <p:sp>
        <p:nvSpPr>
          <p:cNvPr id="104" name="Shape 13"/>
          <p:cNvSpPr/>
          <p:nvPr/>
        </p:nvSpPr>
        <p:spPr>
          <a:xfrm>
            <a:off x="5760720" y="203911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05" name="Text 14"/>
          <p:cNvSpPr/>
          <p:nvPr/>
        </p:nvSpPr>
        <p:spPr>
          <a:xfrm>
            <a:off x="5897880" y="203911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targets, project scaffold</a:t>
            </a:r>
            <a:endParaRPr lang="en-US" sz="1200" dirty="0"/>
          </a:p>
        </p:txBody>
      </p:sp>
      <p:sp>
        <p:nvSpPr>
          <p:cNvPr id="106" name="Shape 9"/>
          <p:cNvSpPr/>
          <p:nvPr/>
        </p:nvSpPr>
        <p:spPr>
          <a:xfrm>
            <a:off x="548640" y="240487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07" name="Text 10"/>
          <p:cNvSpPr/>
          <p:nvPr/>
        </p:nvSpPr>
        <p:spPr>
          <a:xfrm>
            <a:off x="685800" y="240487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8" name="Shape 11"/>
          <p:cNvSpPr/>
          <p:nvPr/>
        </p:nvSpPr>
        <p:spPr>
          <a:xfrm>
            <a:off x="1554480" y="240487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09" name="Text 12"/>
          <p:cNvSpPr/>
          <p:nvPr/>
        </p:nvSpPr>
        <p:spPr>
          <a:xfrm>
            <a:off x="1691640" y="240487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200" dirty="0"/>
          </a:p>
        </p:txBody>
      </p:sp>
      <p:sp>
        <p:nvSpPr>
          <p:cNvPr id="110" name="Shape 13"/>
          <p:cNvSpPr/>
          <p:nvPr/>
        </p:nvSpPr>
        <p:spPr>
          <a:xfrm>
            <a:off x="5760720" y="240487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11" name="Text 14"/>
          <p:cNvSpPr/>
          <p:nvPr/>
        </p:nvSpPr>
        <p:spPr>
          <a:xfrm>
            <a:off x="5897880" y="240487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dataset, distribution insights</a:t>
            </a:r>
            <a:endParaRPr lang="en-US" sz="1200" dirty="0"/>
          </a:p>
        </p:txBody>
      </p:sp>
      <p:sp>
        <p:nvSpPr>
          <p:cNvPr id="112" name="Shape 9"/>
          <p:cNvSpPr/>
          <p:nvPr/>
        </p:nvSpPr>
        <p:spPr>
          <a:xfrm>
            <a:off x="548640" y="277063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13" name="Text 10"/>
          <p:cNvSpPr/>
          <p:nvPr/>
        </p:nvSpPr>
        <p:spPr>
          <a:xfrm>
            <a:off x="685800" y="27706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4" name="Shape 11"/>
          <p:cNvSpPr/>
          <p:nvPr/>
        </p:nvSpPr>
        <p:spPr>
          <a:xfrm>
            <a:off x="1554480" y="277063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15" name="Text 12"/>
          <p:cNvSpPr/>
          <p:nvPr/>
        </p:nvSpPr>
        <p:spPr>
          <a:xfrm>
            <a:off x="1691640" y="277063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baseline regression</a:t>
            </a:r>
            <a:endParaRPr lang="en-US" sz="1200" dirty="0"/>
          </a:p>
        </p:txBody>
      </p:sp>
      <p:sp>
        <p:nvSpPr>
          <p:cNvPr id="116" name="Shape 13"/>
          <p:cNvSpPr/>
          <p:nvPr/>
        </p:nvSpPr>
        <p:spPr>
          <a:xfrm>
            <a:off x="5760720" y="277063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17" name="Text 14"/>
          <p:cNvSpPr/>
          <p:nvPr/>
        </p:nvSpPr>
        <p:spPr>
          <a:xfrm>
            <a:off x="5897880" y="277063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Expected-loss model, MAE / RMSE</a:t>
            </a:r>
            <a:endParaRPr lang="en-US" sz="1200" dirty="0"/>
          </a:p>
        </p:txBody>
      </p:sp>
      <p:sp>
        <p:nvSpPr>
          <p:cNvPr id="118" name="Shape 9"/>
          <p:cNvSpPr/>
          <p:nvPr/>
        </p:nvSpPr>
        <p:spPr>
          <a:xfrm>
            <a:off x="548640" y="313639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19" name="Text 10"/>
          <p:cNvSpPr/>
          <p:nvPr/>
        </p:nvSpPr>
        <p:spPr>
          <a:xfrm>
            <a:off x="685800" y="313639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0" name="Shape 11"/>
          <p:cNvSpPr/>
          <p:nvPr/>
        </p:nvSpPr>
        <p:spPr>
          <a:xfrm>
            <a:off x="1554480" y="313639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21" name="Text 12"/>
          <p:cNvSpPr/>
          <p:nvPr/>
        </p:nvSpPr>
        <p:spPr>
          <a:xfrm>
            <a:off x="1691640" y="313639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 &amp; Logistic</a:t>
            </a:r>
            <a:endParaRPr lang="en-US" sz="1200" dirty="0"/>
          </a:p>
        </p:txBody>
      </p:sp>
      <p:sp>
        <p:nvSpPr>
          <p:cNvPr id="122" name="Shape 13"/>
          <p:cNvSpPr/>
          <p:nvPr/>
        </p:nvSpPr>
        <p:spPr>
          <a:xfrm>
            <a:off x="5760720" y="313639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23" name="Text 14"/>
          <p:cNvSpPr/>
          <p:nvPr/>
        </p:nvSpPr>
        <p:spPr>
          <a:xfrm>
            <a:off x="5897880" y="313639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Default-probability model</a:t>
            </a:r>
            <a:endParaRPr lang="en-US" sz="1200" dirty="0"/>
          </a:p>
        </p:txBody>
      </p:sp>
      <p:sp>
        <p:nvSpPr>
          <p:cNvPr id="124" name="Shape 9"/>
          <p:cNvSpPr/>
          <p:nvPr/>
        </p:nvSpPr>
        <p:spPr>
          <a:xfrm>
            <a:off x="548640" y="350215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25" name="Text 10"/>
          <p:cNvSpPr/>
          <p:nvPr/>
        </p:nvSpPr>
        <p:spPr>
          <a:xfrm>
            <a:off x="685800" y="350215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6" name="Shape 11"/>
          <p:cNvSpPr/>
          <p:nvPr/>
        </p:nvSpPr>
        <p:spPr>
          <a:xfrm>
            <a:off x="1554480" y="350215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27" name="Text 12"/>
          <p:cNvSpPr/>
          <p:nvPr/>
        </p:nvSpPr>
        <p:spPr>
          <a:xfrm>
            <a:off x="1691640" y="350215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tuning</a:t>
            </a:r>
            <a:endParaRPr lang="en-US" sz="1200" dirty="0"/>
          </a:p>
        </p:txBody>
      </p:sp>
      <p:sp>
        <p:nvSpPr>
          <p:cNvPr id="128" name="Shape 13"/>
          <p:cNvSpPr/>
          <p:nvPr/>
        </p:nvSpPr>
        <p:spPr>
          <a:xfrm>
            <a:off x="5760720" y="350215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29" name="Text 14"/>
          <p:cNvSpPr/>
          <p:nvPr/>
        </p:nvSpPr>
        <p:spPr>
          <a:xfrm>
            <a:off x="5897880" y="350215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best model</a:t>
            </a:r>
            <a:endParaRPr lang="en-US" sz="1200" dirty="0"/>
          </a:p>
        </p:txBody>
      </p:sp>
      <p:sp>
        <p:nvSpPr>
          <p:cNvPr id="130" name="Shape 9"/>
          <p:cNvSpPr/>
          <p:nvPr/>
        </p:nvSpPr>
        <p:spPr>
          <a:xfrm>
            <a:off x="548640" y="386791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31" name="Text 10"/>
          <p:cNvSpPr/>
          <p:nvPr/>
        </p:nvSpPr>
        <p:spPr>
          <a:xfrm>
            <a:off x="685800" y="386791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32" name="Shape 11"/>
          <p:cNvSpPr/>
          <p:nvPr/>
        </p:nvSpPr>
        <p:spPr>
          <a:xfrm>
            <a:off x="1554480" y="386791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33" name="Text 12"/>
          <p:cNvSpPr/>
          <p:nvPr/>
        </p:nvSpPr>
        <p:spPr>
          <a:xfrm>
            <a:off x="1691640" y="386791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tree &amp; reason codes</a:t>
            </a:r>
            <a:endParaRPr lang="en-US" sz="1200" dirty="0"/>
          </a:p>
        </p:txBody>
      </p:sp>
      <p:sp>
        <p:nvSpPr>
          <p:cNvPr id="134" name="Shape 13"/>
          <p:cNvSpPr/>
          <p:nvPr/>
        </p:nvSpPr>
        <p:spPr>
          <a:xfrm>
            <a:off x="5760720" y="386791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35" name="Text 14"/>
          <p:cNvSpPr/>
          <p:nvPr/>
        </p:nvSpPr>
        <p:spPr>
          <a:xfrm>
            <a:off x="5897880" y="386791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adverse-action codes</a:t>
            </a:r>
            <a:endParaRPr lang="en-US" sz="1200" dirty="0"/>
          </a:p>
        </p:txBody>
      </p:sp>
      <p:sp>
        <p:nvSpPr>
          <p:cNvPr id="136" name="Shape 9"/>
          <p:cNvSpPr/>
          <p:nvPr/>
        </p:nvSpPr>
        <p:spPr>
          <a:xfrm>
            <a:off x="548640" y="423367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37" name="Text 10"/>
          <p:cNvSpPr/>
          <p:nvPr/>
        </p:nvSpPr>
        <p:spPr>
          <a:xfrm>
            <a:off x="685800" y="423367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38" name="Shape 11"/>
          <p:cNvSpPr/>
          <p:nvPr/>
        </p:nvSpPr>
        <p:spPr>
          <a:xfrm>
            <a:off x="1554480" y="423367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39" name="Text 12"/>
          <p:cNvSpPr/>
          <p:nvPr/>
        </p:nvSpPr>
        <p:spPr>
          <a:xfrm>
            <a:off x="1691640" y="423367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permutation importance</a:t>
            </a:r>
            <a:endParaRPr lang="en-US" sz="1200" dirty="0"/>
          </a:p>
        </p:txBody>
      </p:sp>
      <p:sp>
        <p:nvSpPr>
          <p:cNvPr id="140" name="Shape 13"/>
          <p:cNvSpPr/>
          <p:nvPr/>
        </p:nvSpPr>
        <p:spPr>
          <a:xfrm>
            <a:off x="5760720" y="423367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41" name="Text 14"/>
          <p:cNvSpPr/>
          <p:nvPr/>
        </p:nvSpPr>
        <p:spPr>
          <a:xfrm>
            <a:off x="5897880" y="423367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Variance-reduced ensemble model</a:t>
            </a:r>
            <a:endParaRPr lang="en-US" sz="1200" dirty="0"/>
          </a:p>
        </p:txBody>
      </p:sp>
      <p:sp>
        <p:nvSpPr>
          <p:cNvPr id="142" name="Shape 9"/>
          <p:cNvSpPr/>
          <p:nvPr/>
        </p:nvSpPr>
        <p:spPr>
          <a:xfrm>
            <a:off x="548640" y="4599432"/>
            <a:ext cx="10058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43" name="Text 10"/>
          <p:cNvSpPr/>
          <p:nvPr/>
        </p:nvSpPr>
        <p:spPr>
          <a:xfrm>
            <a:off x="685800" y="45994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44" name="Shape 11"/>
          <p:cNvSpPr/>
          <p:nvPr/>
        </p:nvSpPr>
        <p:spPr>
          <a:xfrm>
            <a:off x="1554480" y="4599432"/>
            <a:ext cx="420624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45" name="Text 12"/>
          <p:cNvSpPr/>
          <p:nvPr/>
        </p:nvSpPr>
        <p:spPr>
          <a:xfrm>
            <a:off x="1691640" y="459943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tuning &amp; SHAP</a:t>
            </a:r>
            <a:endParaRPr lang="en-US" sz="1200" dirty="0"/>
          </a:p>
        </p:txBody>
      </p:sp>
      <p:sp>
        <p:nvSpPr>
          <p:cNvPr id="146" name="Shape 13"/>
          <p:cNvSpPr/>
          <p:nvPr/>
        </p:nvSpPr>
        <p:spPr>
          <a:xfrm>
            <a:off x="5760720" y="4599432"/>
            <a:ext cx="5486400" cy="530352"/>
          </a:xfrm>
          <a:prstGeom prst="rect">
            <a:avLst/>
          </a:prstGeom>
          <a:solidFill>
            <a:srgbClr val="1A2352"/>
          </a:solidFill>
          <a:ln w="9525">
            <a:solidFill>
              <a:srgbClr val="384486"/>
            </a:solidFill>
            <a:prstDash val="solid"/>
          </a:ln>
        </p:spPr>
      </p:sp>
      <p:sp>
        <p:nvSpPr>
          <p:cNvPr id="147" name="Text 14"/>
          <p:cNvSpPr/>
          <p:nvPr/>
        </p:nvSpPr>
        <p:spPr>
          <a:xfrm>
            <a:off x="5897880" y="459943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+ SHAP explanations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5148072"/>
            <a:ext cx="10149840" cy="1289304"/>
          </a:xfrm>
          <a:prstGeom prst="roundRect">
            <a:avLst>
              <a:gd name="adj" fmla="val 6452"/>
            </a:avLst>
          </a:prstGeom>
          <a:solidFill>
            <a:srgbClr val="222C60"/>
          </a:solidFill>
          <a:ln w="12700">
            <a:solidFill>
              <a:srgbClr val="38448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303520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— WEEKS 9 ONWARD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605272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risk segmentation, fair credit-limit setting, group-fairness auditing across protected classes, and full pipeline/API deployment.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1–8 Summary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Decision Tree &amp; Reason Codes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Interpretable Tree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grow a shallow, depth-constrained tree so every decline traces back to an explicit, human-readable rule.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019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 EXTRACTION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21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 above 65%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2724912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706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shorter than 2 years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209544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1912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 above 40%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694176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675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prior delinquencies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4178808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high relative to income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4663440"/>
            <a:ext cx="329184" cy="329184"/>
          </a:xfrm>
          <a:prstGeom prst="ellipse">
            <a:avLst/>
          </a:prstGeom>
          <a:solidFill>
            <a:srgbClr val="2C855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645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score below threshold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5166360"/>
            <a:ext cx="4572000" cy="0"/>
          </a:xfrm>
          <a:prstGeom prst="line">
            <a:avLst/>
          </a:prstGeom>
          <a:noFill/>
          <a:ln w="12700">
            <a:solidFill>
              <a:srgbClr val="D9D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852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utilisation &gt; 0.65: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reason_code = "R01 - High utilisation"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52160" y="1783080"/>
            <a:ext cx="5760720" cy="1874520"/>
          </a:xfrm>
          <a:prstGeom prst="roundRect">
            <a:avLst>
              <a:gd name="adj" fmla="val 3902"/>
            </a:avLst>
          </a:prstGeom>
          <a:solidFill>
            <a:srgbClr val="141B49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1920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MODEL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22128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depth-constrained CART tree turns every decline into an if-then path — the regulatory backbone for adverse-action notices.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80760" y="3063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sklearn.tree.DecisionTreeClassifier(max_depth=4)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52160" y="3794760"/>
            <a:ext cx="5760720" cy="2423160"/>
          </a:xfrm>
          <a:prstGeom prst="roundRect">
            <a:avLst>
              <a:gd name="adj" fmla="val 3019"/>
            </a:avLst>
          </a:prstGeom>
          <a:solidFill>
            <a:srgbClr val="F4F6FC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39044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ACCURACY BY TREE DEPTH</a:t>
            </a:r>
            <a:endParaRPr lang="en-US" sz="12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5989320" y="4187952"/>
          <a:ext cx="54864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/>
          <p:nvPr/>
        </p:nvSpPr>
        <p:spPr>
          <a:xfrm>
            <a:off x="6080760" y="61264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VARIANCE REDUCTION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Bagging &amp; Feature Importance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7: Random Forest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many trees cuts the variance of a single tree; permutation importance then ranks which signals actually drive default risk.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377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1783080"/>
            <a:ext cx="2377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0358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1783080"/>
            <a:ext cx="3108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13248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26080" y="22402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035808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0" y="2240280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13248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237744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Length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26080" y="2697480"/>
            <a:ext cx="237744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03520" y="2697480"/>
            <a:ext cx="310896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13248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protective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1546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926080" y="31546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03580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303520" y="3154680"/>
            <a:ext cx="3108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413248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protective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3611880"/>
            <a:ext cx="237744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Score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926080" y="3611880"/>
            <a:ext cx="237744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5" name="Text 33"/>
          <p:cNvSpPr/>
          <p:nvPr/>
        </p:nvSpPr>
        <p:spPr>
          <a:xfrm>
            <a:off x="3035808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03520" y="3611880"/>
            <a:ext cx="3108960" cy="4572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7" name="Text 35"/>
          <p:cNvSpPr/>
          <p:nvPr/>
        </p:nvSpPr>
        <p:spPr>
          <a:xfrm>
            <a:off x="5413248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4206240"/>
            <a:ext cx="7863840" cy="960120"/>
          </a:xfrm>
          <a:prstGeom prst="roundRect">
            <a:avLst>
              <a:gd name="adj" fmla="val 5714"/>
            </a:avLst>
          </a:prstGeom>
          <a:solidFill>
            <a:srgbClr val="FBF0DE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2793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OUT-OF-BAG (OOB) ERROR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Error = 0.162  </a:t>
            </a:r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300" b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OOB Accuracy ≈ 83.8%, </a:t>
            </a:r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held-out test accuracy → low overfitting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(FILL FROM NOTEBOOK)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623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8640" y="5943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514600" y="5623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514600" y="5943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80560" y="5623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80560" y="5943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46520" y="5623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46520" y="5943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595360" y="1783080"/>
            <a:ext cx="3017520" cy="43891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</p:spPr>
      </p:sp>
      <p:sp>
        <p:nvSpPr>
          <p:cNvPr id="51" name="Text 49"/>
          <p:cNvSpPr/>
          <p:nvPr/>
        </p:nvSpPr>
        <p:spPr>
          <a:xfrm>
            <a:off x="8732520" y="1901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BY FEATURE</a:t>
            </a:r>
            <a:endParaRPr lang="en-US" sz="1100" dirty="0"/>
          </a:p>
        </p:txBody>
      </p:sp>
      <p:graphicFrame>
        <p:nvGraphicFramePr>
          <p:cNvPr id="52" name="Chart 0" descr=""/>
          <p:cNvGraphicFramePr/>
          <p:nvPr/>
        </p:nvGraphicFramePr>
        <p:xfrm>
          <a:off x="8686800" y="2468880"/>
          <a:ext cx="2834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3" name="Text 50"/>
          <p:cNvSpPr/>
          <p:nvPr/>
        </p:nvSpPr>
        <p:spPr>
          <a:xfrm>
            <a:off x="8732520" y="5943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CHAMPION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Champion — Tuned &amp; Explained with SHAP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CreditFair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5196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XGBoost &amp; SHAP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early stopping become the champion model; SHAP values explain every individual prediction.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Utilisation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2194560"/>
            <a:ext cx="502920" cy="36576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7830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XGBClassifier(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7D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early_stopping_rounds=20)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43800" y="2194560"/>
            <a:ext cx="502920" cy="36576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178308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7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C8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22219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ROC-AUC ≈ 0.91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(FILL FROM NOTEBOOK)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1460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5146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0560" y="3429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805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Iteration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8463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decompose each prediction into per-feature contributions, feeding directly into the Week 6 reason codes. XGBoost becomes the champion model carried into the Week 10 fairness audit.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20840" y="310896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3227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 VALUE| BY FEATURE</a:t>
            </a:r>
            <a:endParaRPr lang="en-US" sz="12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858000" y="3566160"/>
          <a:ext cx="46634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6903720" y="6053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77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ACTUAL OUTPUT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2026-08-26T03:35:37Z</dcterms:created>
  <dcterms:modified xsi:type="dcterms:W3CDTF">2026-08-26T03:35:37Z</dcterms:modified>
</cp:coreProperties>
</file>