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Borrowers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C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Default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41000</c:v>
                </c:pt>
                <c:pt idx="1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Credit
Utilisation</c:v>
                  </c:pt>
                  <c:pt idx="1">
                    <c:v>Debt-to-
Income</c:v>
                  </c:pt>
                  <c:pt idx="2">
                    <c:v>Prior
Delinquencies</c:v>
                  </c:pt>
                  <c:pt idx="3">
                    <c:v>Loan
Amount</c:v>
                  </c:pt>
                  <c:pt idx="4">
                    <c:v>Credit
History</c:v>
                  </c:pt>
                  <c:pt idx="5">
                    <c:v>Income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</c:v>
                </c:pt>
                <c:pt idx="1">
                  <c:v>0.54</c:v>
                </c:pt>
                <c:pt idx="2">
                  <c:v>0.49</c:v>
                </c:pt>
                <c:pt idx="3">
                  <c:v>0.31</c:v>
                </c:pt>
                <c:pt idx="4">
                  <c:v>-0.38</c:v>
                </c:pt>
                <c:pt idx="5">
                  <c:v>-0.44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Loss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  <c:pt idx="5">
                    <c:v>B6</c:v>
                  </c:pt>
                  <c:pt idx="6">
                    <c:v>B7</c:v>
                  </c:pt>
                  <c:pt idx="7">
                    <c:v>B8</c:v>
                  </c:pt>
                  <c:pt idx="8">
                    <c:v>B9</c:v>
                  </c:pt>
                  <c:pt idx="9">
                    <c:v>B10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5000</c:v>
                </c:pt>
                <c:pt idx="1">
                  <c:v>12000</c:v>
                </c:pt>
                <c:pt idx="2">
                  <c:v>18000</c:v>
                </c:pt>
                <c:pt idx="3">
                  <c:v>25000</c:v>
                </c:pt>
                <c:pt idx="4">
                  <c:v>31000</c:v>
                </c:pt>
                <c:pt idx="5">
                  <c:v>38000</c:v>
                </c:pt>
                <c:pt idx="6">
                  <c:v>42500</c:v>
                </c:pt>
                <c:pt idx="7">
                  <c:v>48000</c:v>
                </c:pt>
                <c:pt idx="8">
                  <c:v>55000</c:v>
                </c:pt>
                <c:pt idx="9">
                  <c:v>61000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Loss</c:v>
                </c:pt>
              </c:strCache>
            </c:strRef>
          </c:tx>
          <c:spPr>
            <a:solidFill>
              <a:srgbClr val="3E5C9A"/>
            </a:solidFill>
            <a:ln w="25400" cap="flat">
              <a:solidFill>
                <a:srgbClr val="3E5C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5C9A"/>
              </a:solidFill>
              <a:ln w="9525" cap="flat">
                <a:solidFill>
                  <a:srgbClr val="3E5C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  <c:pt idx="5">
                    <c:v>B6</c:v>
                  </c:pt>
                  <c:pt idx="6">
                    <c:v>B7</c:v>
                  </c:pt>
                  <c:pt idx="7">
                    <c:v>B8</c:v>
                  </c:pt>
                  <c:pt idx="8">
                    <c:v>B9</c:v>
                  </c:pt>
                  <c:pt idx="9">
                    <c:v>B10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5400</c:v>
                </c:pt>
                <c:pt idx="1">
                  <c:v>11200</c:v>
                </c:pt>
                <c:pt idx="2">
                  <c:v>19500</c:v>
                </c:pt>
                <c:pt idx="3">
                  <c:v>23800</c:v>
                </c:pt>
                <c:pt idx="4">
                  <c:v>32600</c:v>
                </c:pt>
                <c:pt idx="5">
                  <c:v>36900</c:v>
                </c:pt>
                <c:pt idx="6">
                  <c:v>44100</c:v>
                </c:pt>
                <c:pt idx="7">
                  <c:v>46200</c:v>
                </c:pt>
                <c:pt idx="8">
                  <c:v>57000</c:v>
                </c:pt>
                <c:pt idx="9">
                  <c:v>59500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39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Ridge</c:v>
                  </c:pt>
                  <c:pt idx="2">
                    <c:v>Lasso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6200</c:v>
                </c:pt>
                <c:pt idx="1">
                  <c:v>5850</c:v>
                </c:pt>
                <c:pt idx="2">
                  <c:v>5960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C8556"/>
            </a:solidFill>
            <a:ln w="31750" cap="flat">
              <a:solidFill>
                <a:srgbClr val="2C855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8556"/>
              </a:solidFill>
              <a:ln w="9525" cap="flat">
                <a:solidFill>
                  <a:srgbClr val="2C85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</c:v>
                </c:pt>
                <c:pt idx="1">
                  <c:v>0.83</c:v>
                </c:pt>
                <c:pt idx="2">
                  <c:v>0.8</c:v>
                </c:pt>
                <c:pt idx="3">
                  <c:v>0.84</c:v>
                </c:pt>
                <c:pt idx="4">
                  <c:v>0.82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22A4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291840" cy="3291840"/>
          </a:xfrm>
          <a:prstGeom prst="ellipse">
            <a:avLst/>
          </a:prstGeom>
          <a:solidFill>
            <a:srgbClr val="26327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CAPSTONE PROJECT · MID-TERM PROGRESS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CreditFair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Explainable &amp; Risk-Aware Credit Prediction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926080" cy="0"/>
          </a:xfrm>
          <a:prstGeom prst="line">
            <a:avLst/>
          </a:prstGeom>
          <a:noFill/>
          <a:ln w="25400">
            <a:solidFill>
              <a:srgbClr val="3E5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covering Weeks 1–5: problem definition, data preparation, baseline regression, extended models, and feature engineering.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Chakrika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&amp; 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can be inaccurate or unfair. CreditFair uses machine learning to predict credit risk while actively checking that decisions are fair and explainable.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Default Prediction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Default / No Default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score: 0 – 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Logistic Regression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926080"/>
            <a:ext cx="457200" cy="457200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898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Given Default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Estimated financial loss (₹)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OLS / Ridge / Lasso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risk-aware limit decisions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 CRITERIA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73552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Groups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98464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135624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23376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8860536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Credit Decisions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Problem Definition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FOUNDATION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CreditFair/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(raw, processed)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data/   ├── models/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fairness/  ├── explainability/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77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15400" y="25877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0723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15400" y="307238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5570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15400" y="355701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041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15400" y="40416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4526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15400" y="4526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 / custom metrics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50109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15400" y="5010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4955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15400" y="54955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Structure &amp;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Cleaning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load the loan application and repayment dataset, then check completeness and quality before any modelling begins.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84248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1984248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84248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19856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9856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55464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4855464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55464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0" name="Text 18"/>
          <p:cNvSpPr/>
          <p:nvPr/>
        </p:nvSpPr>
        <p:spPr>
          <a:xfrm>
            <a:off x="941832" y="32186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 or dropped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85032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85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3" name="Text 21"/>
          <p:cNvSpPr/>
          <p:nvPr/>
        </p:nvSpPr>
        <p:spPr>
          <a:xfrm>
            <a:off x="941832" y="3657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removed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6" name="Text 24"/>
          <p:cNvSpPr/>
          <p:nvPr/>
        </p:nvSpPr>
        <p:spPr>
          <a:xfrm>
            <a:off x="941832" y="40965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treated (IQR capping)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62856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9" name="Text 27"/>
          <p:cNvSpPr/>
          <p:nvPr/>
        </p:nvSpPr>
        <p:spPr>
          <a:xfrm>
            <a:off x="941832" y="45354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encoded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001768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001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32" name="Text 30"/>
          <p:cNvSpPr/>
          <p:nvPr/>
        </p:nvSpPr>
        <p:spPr>
          <a:xfrm>
            <a:off x="941832" y="49743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scaled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178308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4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 DISTRIBUTION</a:t>
            </a:r>
            <a:endParaRPr lang="en-US" sz="11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492240" y="2240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6537960" y="5806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Data Collection &amp; Cleaning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DATA PREPARATION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COVERAGE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distribution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792224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8" name="Text 6"/>
          <p:cNvSpPr/>
          <p:nvPr/>
        </p:nvSpPr>
        <p:spPr>
          <a:xfrm>
            <a:off x="3529584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57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distribution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212848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2157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633472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9584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group distribution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LOOK FOR (GUIDING QUESTIONS)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 credit utilisation correlate with default?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050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050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class-imbalance issues in the target?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4897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489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show strongest correlation with loss?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 RISK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0" y="182880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537960" y="5806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EDA &amp; Insights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BASELINE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 Linear Regression — Expected Loss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baseline predicts Expected Loss Given Default using Ordinary Least Squares.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Delinquencies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2194560"/>
            <a:ext cx="50292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7830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496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sklearn.LinearRegression()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43800" y="2194560"/>
            <a:ext cx="50292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7830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7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8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Loss = ₹42,500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(FILL FROM YOUR NOTEBOOK)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1460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1460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8056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MAE/RMSE means the model's loss estimates are closer to actual losses. This baseline is the reference point that Ridge, Lasso and later tuned models must beat.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310896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32278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LOSS</a:t>
            </a:r>
            <a:endParaRPr lang="en-US" sz="10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629400" y="3611880"/>
          <a:ext cx="4892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6720840" y="605332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OLS Regression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MODEL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Ridge, Lasso &amp; 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families now run side by side — one estimates loss, the other predicts default probability.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830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0" y="1783080"/>
            <a:ext cx="23774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7830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0" y="1783080"/>
            <a:ext cx="310896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17830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402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2402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prediction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24028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2402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from Week 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974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6974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26974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697480"/>
            <a:ext cx="3108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26974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— controls overfitting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54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154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prediction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15468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31546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— sparse feature selection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6118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36118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35808" y="36118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prediction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03520" y="3611880"/>
            <a:ext cx="3108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36118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default probability 0–1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BF0DE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3367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LOGISTIC 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526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001   →   Default Probability =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 →  High Risk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5257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(FILL FROM NOTEBOOK)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8056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4652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95360" y="1783080"/>
            <a:ext cx="3017520" cy="43891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44" name="Text 42"/>
          <p:cNvSpPr/>
          <p:nvPr/>
        </p:nvSpPr>
        <p:spPr>
          <a:xfrm>
            <a:off x="873252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COMPARISON</a:t>
            </a:r>
            <a:endParaRPr lang="en-US" sz="10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8686800" y="2194560"/>
          <a:ext cx="2834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Text 43"/>
          <p:cNvSpPr/>
          <p:nvPr/>
        </p:nvSpPr>
        <p:spPr>
          <a:xfrm>
            <a:off x="8732520" y="5742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Ridge / Lasso / Logistic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OPTIMISATION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Model 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8" name="Text 6"/>
          <p:cNvSpPr/>
          <p:nvPr/>
        </p:nvSpPr>
        <p:spPr>
          <a:xfrm>
            <a:off x="1280160" y="1947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496312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1" name="Text 9"/>
          <p:cNvSpPr/>
          <p:nvPr/>
        </p:nvSpPr>
        <p:spPr>
          <a:xfrm>
            <a:off x="1280160" y="24780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 Ratio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026664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4" name="Text 12"/>
          <p:cNvSpPr/>
          <p:nvPr/>
        </p:nvSpPr>
        <p:spPr>
          <a:xfrm>
            <a:off x="1280160" y="30083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57016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1280160" y="35387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Default 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0" name="Text 18"/>
          <p:cNvSpPr/>
          <p:nvPr/>
        </p:nvSpPr>
        <p:spPr>
          <a:xfrm>
            <a:off x="128016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Behaviour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3" name="Text 21"/>
          <p:cNvSpPr/>
          <p:nvPr/>
        </p:nvSpPr>
        <p:spPr>
          <a:xfrm>
            <a:off x="128016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Length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4572000" cy="0"/>
          </a:xfrm>
          <a:prstGeom prst="line">
            <a:avLst/>
          </a:prstGeom>
          <a:noFill/>
          <a:ln w="12700">
            <a:solidFill>
              <a:srgbClr val="D9D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12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df["debt_to_income"] = df["monthly_debt"]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df["monthly_income"]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1463040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141B49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6276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193852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a single train-test split, k-fold cross-validation compares models and hyperparameters and confirms consistent performance.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3749040"/>
            <a:ext cx="576072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858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 BY FOLD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989320" y="4160520"/>
          <a:ext cx="54864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6080760" y="59253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Feature Engineering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1–5 Summary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05840" cy="530352"/>
          </a:xfrm>
          <a:prstGeom prst="rect">
            <a:avLst/>
          </a:prstGeom>
          <a:solidFill>
            <a:srgbClr val="222C60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508760"/>
            <a:ext cx="4206240" cy="530352"/>
          </a:xfrm>
          <a:prstGeom prst="rect">
            <a:avLst/>
          </a:prstGeom>
          <a:solidFill>
            <a:srgbClr val="222C60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508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508760"/>
            <a:ext cx="5486400" cy="530352"/>
          </a:xfrm>
          <a:prstGeom prst="rect">
            <a:avLst/>
          </a:prstGeom>
          <a:solidFill>
            <a:srgbClr val="222C60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50876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3911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3911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54480" y="203911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03911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setup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203911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03911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targets, project scaffold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569464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56946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54480" y="2569464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56946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2569464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569464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dataset, distribution insights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099816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09981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54480" y="3099816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309981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baseline regression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3099816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099816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Expected-loss model, MAE / RMSE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630168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63016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54480" y="3630168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36301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&amp; Logistic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3630168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63016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Default-probability model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1605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554480" y="4160520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1640" y="41605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tuning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60720" y="4160520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416052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best model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074920"/>
            <a:ext cx="10149840" cy="1417320"/>
          </a:xfrm>
          <a:prstGeom prst="roundRect">
            <a:avLst>
              <a:gd name="adj" fmla="val 6452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230368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— WEEKS 6 ONWARD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5321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explainability, risk segmentation, adverse-action reason codes, fair credit-limit recommendations, group fairness auditing, and full pipeline/API deployment.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1–5 Summary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2026-08-26T03:35:37Z</dcterms:created>
  <dcterms:modified xsi:type="dcterms:W3CDTF">2026-08-26T03:35:37Z</dcterms:modified>
</cp:coreProperties>
</file>